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3C793"/>
                </a:solidFill>
                <a:latin typeface="Consolas"/>
              </a:rPr>
              <a:t>PROPUESTA DE PROYECTO DE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Automatización de revisión de código y pruebas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guiada por historias de usuario y prototipos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7CCD3"/>
                </a:solidFill>
                <a:latin typeface="Calibri"/>
              </a:rPr>
              <a:t>Un skill y una infraestructura agnósticos al sistema, evaluados en múltiples repositorios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1463040" cy="27432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Juan Carlos Soto García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2AAB6"/>
                </a:solidFill>
                <a:latin typeface="Calibri"/>
              </a:rPr>
              <a:t>Maestría en Sistemas Computacionales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2AAB6"/>
                </a:solidFill>
                <a:latin typeface="Calibri"/>
              </a:rPr>
              <a:t>Instituto Tecnológico de Zacatecas — División de Estudios de Posgrado e Investigación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2AAB6"/>
                </a:solidFill>
                <a:latin typeface="Calibri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01 —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Sobre el candidato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B05F17"/>
                </a:solidFill>
                <a:latin typeface="Calibri"/>
              </a:rPr>
              <a:t>—  </a:t>
            </a:r>
            <a:r>
              <a:rPr sz="1600">
                <a:solidFill>
                  <a:srgbClr val="12161C"/>
                </a:solidFill>
                <a:latin typeface="Calibri"/>
              </a:rPr>
              <a:t>18+ años diseñando y liderando soluciones de software para gobierno, banca, energía, salud y entretenimiento en México y Latinoamérica.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B05F17"/>
                </a:solidFill>
                <a:latin typeface="Calibri"/>
              </a:rPr>
              <a:t>—  </a:t>
            </a:r>
            <a:r>
              <a:rPr sz="1600">
                <a:solidFill>
                  <a:srgbClr val="12161C"/>
                </a:solidFill>
                <a:latin typeface="Calibri"/>
              </a:rPr>
              <a:t>Evolución de ingeniero de software a arquitecto: liderazgo de equipos de hasta 15 personas en proyectos de misión crítica.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B05F17"/>
                </a:solidFill>
                <a:latin typeface="Calibri"/>
              </a:rPr>
              <a:t>—  </a:t>
            </a:r>
            <a:r>
              <a:rPr sz="1600">
                <a:solidFill>
                  <a:srgbClr val="12161C"/>
                </a:solidFill>
                <a:latin typeface="Calibri"/>
              </a:rPr>
              <a:t>Rol principal actual: arquitecto y responsable técnico de una plataforma multi-tenant — backend, frontend e infraestructura de punta a punta.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B05F17"/>
                </a:solidFill>
                <a:latin typeface="Calibri"/>
              </a:rPr>
              <a:t>—  </a:t>
            </a:r>
            <a:r>
              <a:rPr sz="1600">
                <a:solidFill>
                  <a:srgbClr val="12161C"/>
                </a:solidFill>
                <a:latin typeface="Calibri"/>
              </a:rPr>
              <a:t>Ya construyó, en producción, herramientas internas de automatización de revisión de código y generación asistida de pruebas con IA — el punto de partida de esta propuesta.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B05F17"/>
                </a:solidFill>
                <a:latin typeface="Calibri"/>
              </a:rPr>
              <a:t>—  </a:t>
            </a:r>
            <a:r>
              <a:rPr sz="1600">
                <a:solidFill>
                  <a:srgbClr val="12161C"/>
                </a:solidFill>
                <a:latin typeface="Calibri"/>
              </a:rPr>
              <a:t>19 repositorios propios públicos en GitHub, más de 260 commits fuera de su rol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828800"/>
            <a:ext cx="4206240" cy="411480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0116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5F17"/>
                </a:solidFill>
                <a:latin typeface="Consolas"/>
              </a:rPr>
              <a:t>POR QUÉ ESTA PROPUESTA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2316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B5563"/>
                </a:solidFill>
                <a:latin typeface="Calibri"/>
              </a:rPr>
              <a:t>La distancia entre construir una herramienta interna que funciona en un solo sistema y un framework que generaliza a cualquier repositorio es, precisamente, trabajo de investigación aplicada — no solo ingeniería de producto.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02 —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Planteamiento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Las herramientas actuales de revisión de código y generación de pruebas asistidas por IA operan casi exclusivamente sobre el diff del código.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No conocen la intención de negocio (qué pidió el usuario) ni el diseño esperado (qué se prototipó) detrás de un cambio.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Resultado típico: revisión genérica de estilo y patrones (alto ruido, baja relevancia) y pruebas que cubren líneas de código pero no verifican el comportamiento que realmente se pidió.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No existe un framework agnóstico al sistema que use historias de usuario y prototipos como contexto explícito para dirigir esa revisión y esa generación de pruebas.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03 — 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Por qué vale la pena resolverlo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611880" cy="640080"/>
          </a:xfrm>
          <a:prstGeom prst="rect">
            <a:avLst/>
          </a:prstGeom>
          <a:solidFill>
            <a:srgbClr val="B05F17"/>
          </a:solidFill>
          <a:ln w="15875">
            <a:solidFill>
              <a:srgbClr val="B05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Escala del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361188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1400">
                <a:solidFill>
                  <a:srgbClr val="4B5563"/>
                </a:solidFill>
                <a:latin typeface="Calibri"/>
              </a:rPr>
              <a:t>Equipos que integran miles de cambios al año enfrentan la revisión humana como cuello de botella difícil de escalar sin sacrificar calidad.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920240"/>
            <a:ext cx="3611880" cy="640080"/>
          </a:xfrm>
          <a:prstGeom prst="rect">
            <a:avLst/>
          </a:prstGeom>
          <a:solidFill>
            <a:srgbClr val="B05F17"/>
          </a:solidFill>
          <a:ln w="15875">
            <a:solidFill>
              <a:srgbClr val="B05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Vacío en la literatura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606040"/>
            <a:ext cx="361188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1400">
                <a:solidFill>
                  <a:srgbClr val="4B5563"/>
                </a:solidFill>
                <a:latin typeface="Calibri"/>
              </a:rPr>
              <a:t>Poca evidencia empírica publicada sobre LLMs en gobernanza de ingeniería con contexto de negocio explícito — y casi nada agnóstico al dominio.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920240"/>
            <a:ext cx="3611880" cy="640080"/>
          </a:xfrm>
          <a:prstGeom prst="rect">
            <a:avLst/>
          </a:prstGeom>
          <a:solidFill>
            <a:srgbClr val="B05F17"/>
          </a:solidFill>
          <a:ln w="15875">
            <a:solidFill>
              <a:srgbClr val="B05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Evidencia propia previa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606040"/>
            <a:ext cx="361188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1400">
                <a:solidFill>
                  <a:srgbClr val="4B5563"/>
                </a:solidFill>
                <a:latin typeface="Calibri"/>
              </a:rPr>
              <a:t>Una versión atada a un solo sistema ya demostró valor operativo real. Falta generalizar el enfoque y validarlo formalmente.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04 —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Objetivo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73152" cy="27432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2161C"/>
                </a:solidFill>
                <a:latin typeface="Georgia"/>
              </a:rPr>
              <a:t>Diseñar, implementar y evaluar una infraestructura y un skill de IA que, alimentados por historias de usuario y prototipos, automaticen la revisión de código y la generación de pruebas de forma generalizable a distintos repositorios.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04 —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Objetivos específicos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2161C"/>
                </a:solidFill>
                <a:latin typeface="Calibri"/>
              </a:rPr>
              <a:t>Diseñar un mecanismo de indexación multi-repositorio (código, convenciones, historial de cambios).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517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2161C"/>
                </a:solidFill>
                <a:latin typeface="Calibri"/>
              </a:rPr>
              <a:t>Diseñar un esquema de ingesta de historias de usuario y prototipos como fuente de verdad de la intención de negocio.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9300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2161C"/>
                </a:solidFill>
                <a:latin typeface="Calibri"/>
              </a:rPr>
              <a:t>Implementar el skill/agente que correlaciona código con intención para generar revisión dirigida y pruebas derivadas de criterios de aceptación.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34256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2161C"/>
                </a:solidFill>
                <a:latin typeface="Calibri"/>
              </a:rPr>
              <a:t>Validar el sistema en al menos 2-3 repositorios de dominios distintos entre sí.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75504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2161C"/>
                </a:solidFill>
                <a:latin typeface="Calibri"/>
              </a:rPr>
              <a:t>Medir precisión de la revisión, cobertura semántica de las pruebas generadas y grado de generalización del sistema.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05 —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Arquitectura de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274320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Repositorio(s)</a:t>
            </a:r>
          </a:p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código, historial, convenciones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71800"/>
            <a:ext cx="274320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Historias de usuario</a:t>
            </a:r>
          </a:p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criterios de aceptación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40"/>
            <a:ext cx="274320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Prototipos / contratos</a:t>
            </a:r>
          </a:p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mockups, especificación de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965960"/>
            <a:ext cx="265176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Indexador de código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3474720"/>
            <a:ext cx="265176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Ingesta de intención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743200"/>
            <a:ext cx="2743200" cy="1005840"/>
          </a:xfrm>
          <a:prstGeom prst="rect">
            <a:avLst/>
          </a:prstGeom>
          <a:solidFill>
            <a:srgbClr val="B05F17"/>
          </a:solidFill>
          <a:ln w="15875">
            <a:solidFill>
              <a:srgbClr val="B05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Skill / agente
de correlación</a:t>
            </a:r>
          </a:p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código ↔ intención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40" y="2103120"/>
            <a:ext cx="141732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2161C"/>
                </a:solidFill>
                <a:latin typeface="Calibri"/>
              </a:rPr>
              <a:t>Revisión
dirigida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78440" y="3383280"/>
            <a:ext cx="1417320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2161C"/>
                </a:solidFill>
                <a:latin typeface="Calibri"/>
              </a:rPr>
              <a:t>Pruebas por
criterio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2350008"/>
            <a:ext cx="685799" cy="0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3355848"/>
            <a:ext cx="685799" cy="502919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91840" y="3858767"/>
            <a:ext cx="685799" cy="502921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29400" y="2350008"/>
            <a:ext cx="548640" cy="896112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29400" y="3246120"/>
            <a:ext cx="548640" cy="612647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921240" y="2487167"/>
            <a:ext cx="457200" cy="530353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21240" y="3383280"/>
            <a:ext cx="457200" cy="384048"/>
          </a:xfrm>
          <a:prstGeom prst="line">
            <a:avLst/>
          </a:prstGeom>
          <a:ln w="22225">
            <a:solidFill>
              <a:srgbClr val="B05F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120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4B5563"/>
                </a:solidFill>
                <a:latin typeface="Calibri"/>
              </a:rPr>
              <a:t>El skill correlaciona lo que el código hace con lo que la historia de usuario y el prototipo dicen que debería hacer — de ahí sale tanto la revisión dirigida como las pruebas ligadas a criterios de aceptación específicos, no solo a cobertura de líneas.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06 —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Metodología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35204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842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05F17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8879"/>
            <a:ext cx="3191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Revisión de literatura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80359"/>
            <a:ext cx="3191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LLMs en code review, generación de pruebas, ingeniería de contexto.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74519"/>
            <a:ext cx="35204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9842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05F1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468879"/>
            <a:ext cx="3191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Diseño de 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80359"/>
            <a:ext cx="3191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Skill + infraestructura de indexación e ingesta de intención.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874519"/>
            <a:ext cx="35204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9842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05F17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68879"/>
            <a:ext cx="3191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Implementación iterativa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880359"/>
            <a:ext cx="3191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MVP sobre un repositorio propio, luego generalización.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19"/>
            <a:ext cx="35204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416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05F17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526279"/>
            <a:ext cx="3191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Instrumentación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937759"/>
            <a:ext cx="3191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Métricas de precisión, cobertura semántica y generalización.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31919"/>
            <a:ext cx="35204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0416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05F17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526279"/>
            <a:ext cx="3191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Validación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937759"/>
            <a:ext cx="3191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Ejecución en 2-3 repositorios de dominios distintos.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931919"/>
            <a:ext cx="35204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40416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05F17"/>
                </a:solidFill>
                <a:latin typeface="Consola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526279"/>
            <a:ext cx="3191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Análisis y redacción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937759"/>
            <a:ext cx="3191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Resultados, discusión y documento final de tesis.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07 —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Alcance y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REPOSITORIOS DE VALIDACIÓN CANDIDATOS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B05F17"/>
                </a:solidFill>
                <a:latin typeface="Calibri"/>
              </a:rPr>
              <a:t>—  </a:t>
            </a:r>
            <a:r>
              <a:rPr sz="1500">
                <a:solidFill>
                  <a:srgbClr val="12161C"/>
                </a:solidFill>
                <a:latin typeface="Calibri"/>
              </a:rPr>
              <a:t>Proyectos propios ya públicos en GitHub (dominios distintos: gestión residencial, agendas de servicios, accesibilidad).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B05F17"/>
                </a:solidFill>
                <a:latin typeface="Calibri"/>
              </a:rPr>
              <a:t>—  </a:t>
            </a:r>
            <a:r>
              <a:rPr sz="1500">
                <a:solidFill>
                  <a:srgbClr val="12161C"/>
                </a:solidFill>
                <a:latin typeface="Calibri"/>
              </a:rPr>
              <a:t>Opcionalmente, un repositorio de un empleador, sujeto a autorización explícita.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B05F17"/>
                </a:solidFill>
                <a:latin typeface="Calibri"/>
              </a:rPr>
              <a:t>—  </a:t>
            </a:r>
            <a:r>
              <a:rPr sz="1500">
                <a:solidFill>
                  <a:srgbClr val="12161C"/>
                </a:solidFill>
                <a:latin typeface="Calibri"/>
              </a:rPr>
              <a:t>Criterio de selección: cada repo debe tener historias de usuario documentadas o reconstruibles.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663440" cy="3291840"/>
          </a:xfrm>
          <a:prstGeom prst="rect">
            <a:avLst/>
          </a:prstGeom>
          <a:solidFill>
            <a:srgbClr val="F3F4F6"/>
          </a:solidFill>
          <a:ln w="1587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FUERA DE 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2316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B05F17"/>
                </a:solidFill>
                <a:latin typeface="Calibri"/>
              </a:rPr>
              <a:t>—  </a:t>
            </a:r>
            <a:r>
              <a:rPr sz="1400">
                <a:solidFill>
                  <a:srgbClr val="4B5563"/>
                </a:solidFill>
                <a:latin typeface="Calibri"/>
              </a:rPr>
              <a:t>Reemplazar por completo la revisión humana — el sistema asiste, no sustituye.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B05F17"/>
                </a:solidFill>
                <a:latin typeface="Calibri"/>
              </a:rPr>
              <a:t>—  </a:t>
            </a:r>
            <a:r>
              <a:rPr sz="1400">
                <a:solidFill>
                  <a:srgbClr val="4B5563"/>
                </a:solidFill>
                <a:latin typeface="Calibri"/>
              </a:rPr>
              <a:t>Optimizar para un lenguaje o framework único; el objetivo es generalizar el enfoque, no maximizar precisión en un solo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08 — CONTRIBUCIÓN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Aporte esperado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Un framework reproducible: indexación multi-repositorio + ingesta de intención + generación dirigida de revisión y pruebas.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Una herramienta funcional (skill) evaluable y potencialmente publicable como proyecto open source.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B05F17"/>
                </a:solidFill>
                <a:latin typeface="Calibri"/>
              </a:rPr>
              <a:t>—  </a:t>
            </a:r>
            <a:r>
              <a:rPr sz="1800">
                <a:solidFill>
                  <a:srgbClr val="12161C"/>
                </a:solidFill>
                <a:latin typeface="Calibri"/>
              </a:rPr>
              <a:t>Evidencia empírica de que el contexto explícito (historia de usuario + prototipo) mejora la relevancia de la revisión de código y la cobertura semántica de las pruebas, frente a un enfoque que solo ve el diff.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09 — 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Cronograma tentativo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103120"/>
                <a:gridCol w="310896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B05F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>
                    <a:solidFill>
                      <a:srgbClr val="B05F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B05F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2161C"/>
                          </a:solidFill>
                          <a:latin typeface="Calibri"/>
                        </a:defRPr>
                      </a:pPr>
                      <a:r>
                        <a:t>Revisión de literatura y diseño de arquitectura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3–4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Documento de diseño y marco teórico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2161C"/>
                          </a:solidFill>
                          <a:latin typeface="Calibri"/>
                        </a:defRPr>
                      </a:pPr>
                      <a:r>
                        <a:t>Indexador y esquema de ingesta de HUs/prototipos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4–5 semanas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Infraestructura base funcional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2161C"/>
                          </a:solidFill>
                          <a:latin typeface="Calibri"/>
                        </a:defRPr>
                      </a:pPr>
                      <a:r>
                        <a:t>Implementación del skill/agente de correlación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4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MVP funcional sobre un repositorio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2161C"/>
                          </a:solidFill>
                          <a:latin typeface="Calibri"/>
                        </a:defRPr>
                      </a:pPr>
                      <a:r>
                        <a:t>Generalización y validación en 2-3 repositorios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4 semanas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Resultados de evaluación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2161C"/>
                          </a:solidFill>
                          <a:latin typeface="Calibri"/>
                        </a:defRPr>
                      </a:pPr>
                      <a:r>
                        <a:t>Análisis, redacción y ajustes finales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3–4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Documento de tesis completo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05F17"/>
                </a:solidFill>
                <a:latin typeface="Consolas"/>
              </a:rPr>
              <a:t>Total estimado: ~18–20 semanas (≈4.5 meses)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5F17"/>
                </a:solidFill>
                <a:latin typeface="Consolas"/>
              </a:rPr>
              <a:t>10 —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161C"/>
                </a:solidFill>
                <a:latin typeface="Georgia"/>
              </a:rPr>
              <a:t>Riesgos y mitigaciones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73152" cy="118872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Variabilidad de calidad de HUs/prototipos entre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Normalizar un formato mínimo de entrada y definir criterios de “HU evaluable”.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73152" cy="118872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Disponibilidad de repos de validación con historias de usuario documentadas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3375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Priorizar proyectos propios donde se controla la documentación desde el inicio.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54880"/>
            <a:ext cx="73152" cy="118872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61C"/>
                </a:solidFill>
                <a:latin typeface="Calibri"/>
              </a:rPr>
              <a:t>Tiempo limitado (proyecto ya en prórroga)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75488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Alcance acotado a MVP + evaluación empírica, no a un producto comercial completo.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Automatización de CR y pruebas guiada por HUs y prototipos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492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C7CCD3"/>
                </a:solidFill>
                <a:latin typeface="Calibri"/>
              </a:rPr>
              <a:t>Preguntas y retroalimentación bienvenidas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1463040" cy="27432"/>
          </a:xfrm>
          <a:prstGeom prst="rect">
            <a:avLst/>
          </a:prstGeom>
          <a:solidFill>
            <a:srgbClr val="B05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Juan Carlos Soto García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2AAB6"/>
                </a:solidFill>
                <a:latin typeface="Consolas"/>
              </a:rPr>
              <a:t>jnc.soga@gmail.com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2AAB6"/>
                </a:solidFill>
                <a:latin typeface="Consolas"/>
              </a:rPr>
              <a:t>linkedin.com/in/jncsoga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2AAB6"/>
                </a:solidFill>
                <a:latin typeface="Consolas"/>
              </a:rPr>
              <a:t>github.com/CarlosSotoGarcia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